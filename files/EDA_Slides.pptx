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Exploratory Data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2004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comprehensive_loan_data.csv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eda_visualizations.ipynb  |  25 Visualizations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Names]  |  [Institution]  |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E86AB"/>
                </a:solidFill>
              </a:rPr>
              <a:t>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need accurate, automated credit scoring to reduce default risk in consumer lending portfolios.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68680"/>
            <a:ext cx="274320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BC9C"/>
                </a:solidFill>
              </a:rPr>
              <a:t>✓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trained on comprehensive loan data with 25 EDA-driven visualizations for feature selection and model transparency.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2743200" cy="3200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D03F"/>
                </a:solidFill>
              </a:rPr>
              <a:t>★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214884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[XX%]  |  [N] records analyzed  |  Top features: [DTI, income, credit age]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8686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systematic EDA on comprehensive_loan_data.csv to understand feature distributions, correlations, and class imbalance.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25 reproducible visualizations documenting key data insights and informing feature engineering decisions.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machine learning models for credit score prediction, reporting AUC-ROC, F1, and precision/recall.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fully reproducible research artifacts: notebook, dataset, figures, and documentation for academic submission.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868680"/>
            <a:ext cx="182880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182880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868680"/>
            <a:ext cx="182880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Included: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debt_to_income_ratio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credit_history_length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num_open_accounts, num_derogatory_marks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[target]: credit_score_band or default_flag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37160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9144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median imputation | Categorical: mode imputation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columns affected, [Y] rows dropped (&gt;30% missing threshold)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137160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9659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categorical features | StandardScaler for numerical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ordered credit bands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137160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0175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 | random_state = 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to preserve class distribution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023360"/>
            <a:ext cx="137160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0690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debt_to_income ratio, log(annual_income)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Binned: loan_amount into quartiles for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Feature Distributions (Viz 01–04)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1965960"/>
          </a:xfrm>
          <a:prstGeom prst="rect">
            <a:avLst/>
          </a:prstGeom>
          <a:solidFill>
            <a:srgbClr val="F0F7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77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[INSERT: viz_01_loan_amount_hist.png]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2148840"/>
            <a:ext cx="411480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Distribution: Right-skewed; most loans &lt; $20K. Log-transform recommended.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14800" cy="1965960"/>
          </a:xfrm>
          <a:prstGeom prst="rect">
            <a:avLst/>
          </a:prstGeom>
          <a:solidFill>
            <a:srgbClr val="F0F7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777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[INSERT: viz_02_income_hist.png]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148840"/>
            <a:ext cx="411480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Distribution: Heavy right skew; income outliers capped at 99th percentile.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34640"/>
            <a:ext cx="4114800" cy="1965960"/>
          </a:xfrm>
          <a:prstGeom prst="rect">
            <a:avLst/>
          </a:prstGeom>
          <a:solidFill>
            <a:srgbClr val="F0F7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" y="28346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[INSERT: viz_03_dti_hist.png]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4206240"/>
            <a:ext cx="411480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 Distribution: Bimodal distribution suggests two distinct borrower segments.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965960"/>
          </a:xfrm>
          <a:prstGeom prst="rect">
            <a:avLst/>
          </a:prstGeom>
          <a:solidFill>
            <a:srgbClr val="F0F7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8346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[INSERT: viz_04_credit_age_box.png]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4206240"/>
            <a:ext cx="4114800" cy="36576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Length: Median ~7 years; defaulters show significantly shorter history.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Correlation Analysis (Viz 05–09)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7724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[INSERT: viz_05_correlation_heatmap.png]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777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Found: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 vs. default: r = [+0.XX] (strong positive)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age vs. default: r = [-0.XX] (negative — protective)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2331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vs. loan amount: r = [+0.XX]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A] vs. [Feature B]: r = [0.XX]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[Multicollinearity concern: identify if any r &gt; 0.8]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3977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SPEAKER NOTE: viz_06_scatter_dti_default.png, viz_07_violin_income_band.png, viz_08_pairplot.png, viz_09_vif_table.png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Target Variable Analysis (Viz 10–14)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2286000"/>
          </a:xfrm>
          <a:prstGeom prst="rect">
            <a:avLst/>
          </a:prstGeom>
          <a:solidFill>
            <a:srgbClr val="F0F7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772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[INSERT: viz_10_class_distribution.png]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777240"/>
            <a:ext cx="4206240" cy="2286000"/>
          </a:xfrm>
          <a:prstGeom prst="rect">
            <a:avLst/>
          </a:prstGeom>
          <a:solidFill>
            <a:srgbClr val="F0F7F8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77724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[INSERT: viz_11_default_by_income_quartile.png]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3246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Findings: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36576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ratio: [X:1] (default:non-default) — SMOTE/class_weight adjustment recommended.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is [X]× higher in lowest income quartile (viz_11).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loans (&lt; 24 months) show disproportionately high default rate (viz_12).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notes: viz_13_default_by_purpose.png, viz_14_default_by_loan_term.png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Advanced Patterns (Viz 15–25)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77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[viz_15_loan_purpose_bar.png]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viz_15: Loan Purpose Mix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777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777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[viz_16_derog_scatter.png]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viz_16: Derogatory Marks vs Default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777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777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[viz_17_open_accts_hist.png]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viz_17: Open Accounts Distribution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27432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[viz_18_geo_map.png]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viz_18: Geographic Distribution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7432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[viz_19_feat_importance.png]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viz_19: Feature Importance (prelim)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7432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[viz_20_25_summary.png]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viz_20–25: Remaining EDA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1B4F72"/>
          </a:solidFill>
          <a:ln w="1270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0" cy="182880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cases represent ~[X]% of records. Class weighting or SMOTE required before model training.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828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640080" cy="1828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17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960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630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ratio, credit history length, and number of derogatory marks show strongest correlation with default.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640080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290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Loan Size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747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ratio exceeding [X] is associated with [Y]× higher default probability.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1B4F72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640080" cy="182880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4290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Pattern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4747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features have &gt;5% missing values. Pattern is MCAR/MAR — [state which] based on missingness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14800" cy="3931920"/>
          </a:xfrm>
          <a:prstGeom prst="rect">
            <a:avLst/>
          </a:prstGeom>
          <a:solidFill>
            <a:srgbClr val="F0F7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3749040" cy="2286000"/>
        </p:xfrm>
        <a:graphic>
          <a:graphicData uri="http://schemas.openxmlformats.org/drawingml/2006/table">
            <a:tbl>
              <a:tblPr/>
              <a:tblGrid>
                <a:gridCol w="1249680"/>
                <a:gridCol w="1249680"/>
                <a:gridCol w="1249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[0.XX]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840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[SPEAKER NOTE: Insert ROC curve as viz_22_roc_curves.png]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0916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636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cross-validation (k=5)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205740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6636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for model explainability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274320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6636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audit: performance across demographic groups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342900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6636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deployment for real-time inference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411480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66360" y="4114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multi-class credit band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How to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Clone 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https://github.com/[username]/credit-score-predictor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credit-score-predictor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Install dependencies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      # Python 3.9+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Verify dataset is present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data/comprehensive_loan_data.csv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Launch notebook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 eda_visualizations.ipynb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all cells top-to-bottom; random_state=42 throughout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credit-score-predictor/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data/comprehensive_loan_data.csv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eda_visualizations.ipynb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figures/  (25 PNGs)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README_SUBMISSION.md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Links: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4251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[email@institution.edu]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github.com/[username]/credit-score-predictor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Score Prediction - EDA &amp; Project Write-up</dc:title>
  <dc:subject>PptxGenJS Presentation</dc:subject>
  <dc:creator>Credit Score Predictor Project</dc:creator>
  <cp:lastModifiedBy>Credit Score Predictor Project</cp:lastModifiedBy>
  <cp:revision>1</cp:revision>
  <dcterms:created xsi:type="dcterms:W3CDTF">2026-02-26T14:03:09Z</dcterms:created>
  <dcterms:modified xsi:type="dcterms:W3CDTF">2026-02-26T14:03:09Z</dcterms:modified>
</cp:coreProperties>
</file>